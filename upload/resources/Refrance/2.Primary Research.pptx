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0"/>
  </p:notesMasterIdLst>
  <p:sldIdLst>
    <p:sldId id="258" r:id="rId2"/>
    <p:sldId id="287" r:id="rId3"/>
    <p:sldId id="288" r:id="rId4"/>
    <p:sldId id="289" r:id="rId5"/>
    <p:sldId id="290" r:id="rId6"/>
    <p:sldId id="284" r:id="rId7"/>
    <p:sldId id="285" r:id="rId8"/>
    <p:sldId id="28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4AD7-A929-4B86-AE7C-467268214B24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0A956-754A-4198-80BA-2CC5A9B4870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1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0317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7251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5388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197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0768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0997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514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516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2785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9294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1763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C276711-70B0-49BE-8A72-417516C5EECF}" type="datetimeFigureOut">
              <a:rPr lang="en-IN" smtClean="0"/>
              <a:pPr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23223F-E815-463E-947F-BCAE5685340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7497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790" y="1363159"/>
            <a:ext cx="10747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 err="1" smtClean="0">
                <a:latin typeface="Agency FB" panose="020B0503020202020204" pitchFamily="34" charset="0"/>
              </a:rPr>
              <a:t>Quietify</a:t>
            </a:r>
            <a:r>
              <a:rPr lang="en-US" sz="4000" b="1" u="sng" dirty="0" smtClean="0">
                <a:latin typeface="Agency FB" panose="020B0503020202020204" pitchFamily="34" charset="0"/>
              </a:rPr>
              <a:t> : </a:t>
            </a:r>
            <a:r>
              <a:rPr lang="en-US" sz="4000" b="1" u="sng" dirty="0" err="1" smtClean="0">
                <a:latin typeface="Agency FB" panose="020B0503020202020204" pitchFamily="34" charset="0"/>
              </a:rPr>
              <a:t>Noice</a:t>
            </a:r>
            <a:r>
              <a:rPr lang="en-US" sz="4000" b="1" u="sng" dirty="0" smtClean="0">
                <a:latin typeface="Agency FB" panose="020B0503020202020204" pitchFamily="34" charset="0"/>
              </a:rPr>
              <a:t> Detecting and Alert System</a:t>
            </a:r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560319" y="265176"/>
            <a:ext cx="8736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1" dirty="0" smtClean="0">
                <a:solidFill>
                  <a:schemeClr val="accent2"/>
                </a:solidFill>
              </a:rPr>
              <a:t>Design Thinking</a:t>
            </a:r>
            <a:endParaRPr lang="en-IN" sz="6000" b="1" i="1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7963" y="3554203"/>
            <a:ext cx="65696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 smtClean="0"/>
          </a:p>
          <a:p>
            <a:r>
              <a:rPr lang="en-US" sz="2400" b="1" u="sng" dirty="0" smtClean="0"/>
              <a:t>Team Members:</a:t>
            </a:r>
          </a:p>
          <a:p>
            <a:r>
              <a:rPr lang="en-US" sz="2100" dirty="0" smtClean="0"/>
              <a:t>1.Varad </a:t>
            </a:r>
            <a:r>
              <a:rPr lang="en-US" sz="2100" dirty="0" err="1" smtClean="0"/>
              <a:t>Patil</a:t>
            </a:r>
            <a:r>
              <a:rPr lang="en-US" sz="2100" dirty="0" smtClean="0"/>
              <a:t> (202501070193)</a:t>
            </a:r>
          </a:p>
          <a:p>
            <a:r>
              <a:rPr lang="en-US" sz="2100" dirty="0" smtClean="0"/>
              <a:t>2.Kadambari </a:t>
            </a:r>
            <a:r>
              <a:rPr lang="en-US" sz="2100" dirty="0" err="1"/>
              <a:t>Jawali</a:t>
            </a:r>
            <a:r>
              <a:rPr lang="en-US" sz="2100" dirty="0"/>
              <a:t> (202501070186)</a:t>
            </a:r>
          </a:p>
          <a:p>
            <a:r>
              <a:rPr lang="en-US" sz="2100" dirty="0" smtClean="0"/>
              <a:t>3.Parth Nasare (202501070185)</a:t>
            </a:r>
          </a:p>
          <a:p>
            <a:r>
              <a:rPr lang="en-US" sz="2100" dirty="0" smtClean="0"/>
              <a:t>4.Pavani </a:t>
            </a:r>
            <a:r>
              <a:rPr lang="en-US" sz="2100" dirty="0" err="1" smtClean="0"/>
              <a:t>Kulkarni</a:t>
            </a:r>
            <a:r>
              <a:rPr lang="en-US" sz="2100" dirty="0" smtClean="0"/>
              <a:t> (202501070183)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96528" y="5166360"/>
            <a:ext cx="3118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Guided By:</a:t>
            </a:r>
          </a:p>
          <a:p>
            <a:r>
              <a:rPr lang="en-US" sz="2000" b="1" dirty="0" smtClean="0"/>
              <a:t>Mrs. </a:t>
            </a:r>
            <a:r>
              <a:rPr lang="en-US" sz="2000" b="1" dirty="0" err="1" smtClean="0"/>
              <a:t>Nitasha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Chaudhari</a:t>
            </a:r>
            <a:endParaRPr lang="en-US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610708" y="2236763"/>
            <a:ext cx="820146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i="1" u="sng" dirty="0" smtClean="0"/>
              <a:t>Primary Research:</a:t>
            </a:r>
          </a:p>
          <a:p>
            <a:endParaRPr lang="en-IN" sz="5000" b="1" i="1" u="sng" dirty="0" smtClean="0"/>
          </a:p>
          <a:p>
            <a:endParaRPr lang="en-US" sz="5000" dirty="0"/>
          </a:p>
        </p:txBody>
      </p:sp>
      <p:sp>
        <p:nvSpPr>
          <p:cNvPr id="7" name="TextBox 6"/>
          <p:cNvSpPr txBox="1"/>
          <p:nvPr/>
        </p:nvSpPr>
        <p:spPr>
          <a:xfrm>
            <a:off x="4726744" y="3376246"/>
            <a:ext cx="475488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/>
              <a:t>Batch:  E-23</a:t>
            </a:r>
          </a:p>
          <a:p>
            <a:pPr algn="ctr"/>
            <a:r>
              <a:rPr lang="en-US" sz="2500" b="1" dirty="0" smtClean="0"/>
              <a:t>Group Name : </a:t>
            </a:r>
            <a:r>
              <a:rPr lang="en-US" sz="2500" b="1" dirty="0" err="1" smtClean="0"/>
              <a:t>MindCraft</a:t>
            </a:r>
            <a:endParaRPr lang="en-US" sz="2500" b="1" dirty="0" smtClean="0"/>
          </a:p>
          <a:p>
            <a:endParaRPr lang="en-US" sz="2500" dirty="0"/>
          </a:p>
        </p:txBody>
      </p:sp>
    </p:spTree>
    <p:extLst>
      <p:ext uri="{BB962C8B-B14F-4D97-AF65-F5344CB8AC3E}">
        <p14:creationId xmlns="" xmlns:p14="http://schemas.microsoft.com/office/powerpoint/2010/main" val="376503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0559" y="1159136"/>
            <a:ext cx="7685649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 smtClean="0"/>
              <a:t>1</a:t>
            </a:r>
            <a:r>
              <a:rPr lang="en-US" sz="2300" b="1" dirty="0" smtClean="0"/>
              <a:t>. How often do you visit the college library?</a:t>
            </a:r>
            <a:endParaRPr lang="en-US" sz="2300" dirty="0" smtClean="0"/>
          </a:p>
          <a:p>
            <a:r>
              <a:rPr lang="en-US" sz="2300" dirty="0" smtClean="0"/>
              <a:t>[ </a:t>
            </a:r>
            <a:r>
              <a:rPr lang="en-US" sz="2300" dirty="0" smtClean="0"/>
              <a:t>A] </a:t>
            </a:r>
            <a:r>
              <a:rPr lang="en-US" sz="2300" dirty="0" smtClean="0"/>
              <a:t>Daily</a:t>
            </a:r>
          </a:p>
          <a:p>
            <a:r>
              <a:rPr lang="en-US" sz="2300" dirty="0" smtClean="0"/>
              <a:t>[ </a:t>
            </a:r>
            <a:r>
              <a:rPr lang="en-US" sz="2300" dirty="0" smtClean="0"/>
              <a:t>B] </a:t>
            </a:r>
            <a:r>
              <a:rPr lang="en-US" sz="2300" dirty="0" smtClean="0"/>
              <a:t>2-3 times a week</a:t>
            </a:r>
          </a:p>
          <a:p>
            <a:r>
              <a:rPr lang="en-US" sz="2300" dirty="0" smtClean="0"/>
              <a:t>[C </a:t>
            </a:r>
            <a:r>
              <a:rPr lang="en-US" sz="2300" dirty="0" smtClean="0"/>
              <a:t>] Once a week</a:t>
            </a:r>
          </a:p>
          <a:p>
            <a:r>
              <a:rPr lang="en-US" sz="2300" dirty="0" smtClean="0"/>
              <a:t>[D </a:t>
            </a:r>
            <a:r>
              <a:rPr lang="en-US" sz="2300" dirty="0" smtClean="0"/>
              <a:t>] </a:t>
            </a:r>
            <a:r>
              <a:rPr lang="en-US" sz="2300" dirty="0" smtClean="0"/>
              <a:t>Rarely</a:t>
            </a:r>
          </a:p>
          <a:p>
            <a:endParaRPr lang="en-US" sz="2300" dirty="0" smtClean="0"/>
          </a:p>
          <a:p>
            <a:r>
              <a:rPr lang="en-US" sz="2300" b="1" dirty="0" smtClean="0"/>
              <a:t>2. What is your primary reason for visiting the library?</a:t>
            </a:r>
            <a:endParaRPr lang="en-US" sz="2300" dirty="0" smtClean="0"/>
          </a:p>
          <a:p>
            <a:r>
              <a:rPr lang="en-US" sz="2300" dirty="0" smtClean="0"/>
              <a:t>[A </a:t>
            </a:r>
            <a:r>
              <a:rPr lang="en-US" sz="2300" dirty="0" smtClean="0"/>
              <a:t>] Serious Study / Exam Prep</a:t>
            </a:r>
          </a:p>
          <a:p>
            <a:r>
              <a:rPr lang="en-US" sz="2300" dirty="0" smtClean="0"/>
              <a:t>[B </a:t>
            </a:r>
            <a:r>
              <a:rPr lang="en-US" sz="2300" dirty="0" smtClean="0"/>
              <a:t>] Casual Reading</a:t>
            </a:r>
          </a:p>
          <a:p>
            <a:r>
              <a:rPr lang="en-US" sz="2300" dirty="0" smtClean="0"/>
              <a:t>[ </a:t>
            </a:r>
            <a:r>
              <a:rPr lang="en-US" sz="2300" dirty="0" smtClean="0"/>
              <a:t>C] </a:t>
            </a:r>
            <a:r>
              <a:rPr lang="en-US" sz="2300" dirty="0" smtClean="0"/>
              <a:t>Group Projects / Discussion</a:t>
            </a:r>
          </a:p>
          <a:p>
            <a:r>
              <a:rPr lang="en-US" sz="2300" dirty="0" smtClean="0"/>
              <a:t>[D </a:t>
            </a:r>
            <a:r>
              <a:rPr lang="en-US" sz="2300" dirty="0" smtClean="0"/>
              <a:t>] Just to </a:t>
            </a:r>
            <a:r>
              <a:rPr lang="en-US" sz="2300" dirty="0" smtClean="0"/>
              <a:t>relax</a:t>
            </a:r>
          </a:p>
          <a:p>
            <a:endParaRPr lang="en-US" sz="2300" dirty="0" smtClean="0"/>
          </a:p>
          <a:p>
            <a:endParaRPr lang="en-US" sz="23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25083"/>
            <a:ext cx="5205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 smtClean="0"/>
              <a:t>Questionnaire:</a:t>
            </a:r>
            <a:endParaRPr lang="en-US" sz="4000" b="1" i="1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8977" y="422031"/>
            <a:ext cx="9580099" cy="675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endParaRPr lang="en-US" dirty="0" smtClean="0"/>
          </a:p>
          <a:p>
            <a:r>
              <a:rPr lang="en-US" sz="2300" b="1" dirty="0" smtClean="0"/>
              <a:t>3. How often do you find the library too noisy for studying?</a:t>
            </a:r>
            <a:endParaRPr lang="en-US" sz="2300" dirty="0" smtClean="0"/>
          </a:p>
          <a:p>
            <a:r>
              <a:rPr lang="en-US" sz="2300" dirty="0" smtClean="0"/>
              <a:t>[A ] Always</a:t>
            </a:r>
          </a:p>
          <a:p>
            <a:r>
              <a:rPr lang="en-US" sz="2300" dirty="0" smtClean="0"/>
              <a:t>[ B] Often</a:t>
            </a:r>
          </a:p>
          <a:p>
            <a:r>
              <a:rPr lang="en-US" sz="2300" dirty="0" smtClean="0"/>
              <a:t>[C ] Sometimes</a:t>
            </a:r>
          </a:p>
          <a:p>
            <a:r>
              <a:rPr lang="en-US" sz="2300" dirty="0" smtClean="0"/>
              <a:t>[D ] Rarely / </a:t>
            </a:r>
            <a:r>
              <a:rPr lang="en-US" sz="2300" dirty="0" smtClean="0"/>
              <a:t>Never</a:t>
            </a:r>
          </a:p>
          <a:p>
            <a:endParaRPr lang="en-US" sz="2300" dirty="0" smtClean="0"/>
          </a:p>
          <a:p>
            <a:endParaRPr lang="en-US" sz="2300" dirty="0" smtClean="0"/>
          </a:p>
          <a:p>
            <a:r>
              <a:rPr lang="en-US" sz="2300" b="1" dirty="0" smtClean="0"/>
              <a:t>4. Does sudden noise (talking, phone ringing, whispering) disturb your concentration?</a:t>
            </a:r>
            <a:endParaRPr lang="en-US" sz="2300" dirty="0" smtClean="0"/>
          </a:p>
          <a:p>
            <a:r>
              <a:rPr lang="en-US" sz="2300" dirty="0" smtClean="0"/>
              <a:t>[A ] Yes, it breaks my focus immediately.</a:t>
            </a:r>
          </a:p>
          <a:p>
            <a:r>
              <a:rPr lang="en-US" sz="2300" dirty="0" smtClean="0"/>
              <a:t>[ B] No, I can ignore it.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8978" y="351692"/>
            <a:ext cx="11057207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r>
              <a:rPr lang="en-US" sz="2300" b="1" dirty="0" smtClean="0"/>
              <a:t>5. Which source of noise annoys you the most?</a:t>
            </a:r>
            <a:endParaRPr lang="en-US" sz="2300" dirty="0" smtClean="0"/>
          </a:p>
          <a:p>
            <a:r>
              <a:rPr lang="en-US" sz="2300" dirty="0" smtClean="0"/>
              <a:t>[A ] Students whispering/talking</a:t>
            </a:r>
          </a:p>
          <a:p>
            <a:r>
              <a:rPr lang="en-US" sz="2300" dirty="0" smtClean="0"/>
              <a:t>[B ] Chair dragging / Footsteps</a:t>
            </a:r>
          </a:p>
          <a:p>
            <a:r>
              <a:rPr lang="en-US" sz="2300" dirty="0" smtClean="0"/>
              <a:t>[C ] Phone notifications</a:t>
            </a:r>
          </a:p>
          <a:p>
            <a:r>
              <a:rPr lang="en-US" sz="2300" dirty="0" smtClean="0"/>
              <a:t>[D ] Outside noise (corridor/traffic</a:t>
            </a:r>
            <a:r>
              <a:rPr lang="en-US" sz="2300" dirty="0" smtClean="0"/>
              <a:t>)</a:t>
            </a:r>
          </a:p>
          <a:p>
            <a:endParaRPr lang="en-US" sz="2300" dirty="0" smtClean="0"/>
          </a:p>
          <a:p>
            <a:endParaRPr lang="en-US" sz="2300" dirty="0" smtClean="0"/>
          </a:p>
          <a:p>
            <a:endParaRPr lang="en-US" sz="2300" dirty="0" smtClean="0"/>
          </a:p>
          <a:p>
            <a:r>
              <a:rPr lang="en-US" sz="2300" b="1" dirty="0" smtClean="0"/>
              <a:t>6. Do you think the current method (librarians saying "</a:t>
            </a:r>
            <a:r>
              <a:rPr lang="en-US" sz="2300" b="1" dirty="0" err="1" smtClean="0"/>
              <a:t>Shh</a:t>
            </a:r>
            <a:r>
              <a:rPr lang="en-US" sz="2300" b="1" dirty="0" smtClean="0"/>
              <a:t>") is effective?</a:t>
            </a:r>
            <a:endParaRPr lang="en-US" sz="2300" dirty="0" smtClean="0"/>
          </a:p>
          <a:p>
            <a:r>
              <a:rPr lang="en-US" sz="2300" dirty="0" smtClean="0"/>
              <a:t>[A ] Yes, it works well.</a:t>
            </a:r>
          </a:p>
          <a:p>
            <a:r>
              <a:rPr lang="en-US" sz="2300" dirty="0" smtClean="0"/>
              <a:t>[B ] No, it only works for a short time.</a:t>
            </a:r>
          </a:p>
          <a:p>
            <a:r>
              <a:rPr lang="en-US" sz="2300" dirty="0" smtClean="0"/>
              <a:t>[C ] No, librarians are not always around.</a:t>
            </a:r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9316" y="323557"/>
            <a:ext cx="10452295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300" b="1" dirty="0" smtClean="0"/>
          </a:p>
          <a:p>
            <a:r>
              <a:rPr lang="en-US" sz="2300" b="1" dirty="0" smtClean="0"/>
              <a:t>7. Would you prefer a "Silent Visual Alert" (like a red light) instead of someone verbally scolding students to be quiet?</a:t>
            </a:r>
            <a:endParaRPr lang="en-US" sz="2300" dirty="0" smtClean="0"/>
          </a:p>
          <a:p>
            <a:r>
              <a:rPr lang="en-US" sz="2300" dirty="0" smtClean="0"/>
              <a:t>[A ] Yes, that’s better.</a:t>
            </a:r>
          </a:p>
          <a:p>
            <a:r>
              <a:rPr lang="en-US" sz="2300" dirty="0" smtClean="0"/>
              <a:t>[B ] No, I prefer verbal warnings.</a:t>
            </a:r>
          </a:p>
          <a:p>
            <a:r>
              <a:rPr lang="en-US" sz="2300" dirty="0" smtClean="0"/>
              <a:t>[C ] Maybe.</a:t>
            </a:r>
          </a:p>
          <a:p>
            <a:endParaRPr lang="en-US" sz="2300" dirty="0" smtClean="0"/>
          </a:p>
          <a:p>
            <a:r>
              <a:rPr lang="en-US" sz="2300" b="1" dirty="0" smtClean="0"/>
              <a:t>8. If there was a device on the table that turned RED when noise levels got too high, would it help you be more conscious of your own volume?</a:t>
            </a:r>
            <a:endParaRPr lang="en-US" sz="2300" dirty="0" smtClean="0"/>
          </a:p>
          <a:p>
            <a:r>
              <a:rPr lang="en-US" sz="2300" dirty="0" smtClean="0"/>
              <a:t>[A ] Yes, definitely.</a:t>
            </a:r>
          </a:p>
          <a:p>
            <a:r>
              <a:rPr lang="en-US" sz="2300" dirty="0" smtClean="0"/>
              <a:t>[ B] Maybe.</a:t>
            </a:r>
          </a:p>
          <a:p>
            <a:r>
              <a:rPr lang="en-US" sz="2300" dirty="0" smtClean="0"/>
              <a:t>[C ] No, I wouldn't care.</a:t>
            </a:r>
          </a:p>
          <a:p>
            <a:endParaRPr lang="en-US" sz="2300" dirty="0" smtClean="0"/>
          </a:p>
          <a:p>
            <a:r>
              <a:rPr lang="en-US" sz="2300" b="1" dirty="0" smtClean="0"/>
              <a:t>9. ( Any other suggestions to improve library silence?</a:t>
            </a:r>
            <a:endParaRPr lang="en-US" sz="2300" dirty="0" smtClean="0"/>
          </a:p>
          <a:p>
            <a:r>
              <a:rPr lang="en-US" sz="2300" dirty="0" smtClean="0"/>
              <a:t>Short Answer Text _______________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1389888"/>
            <a:ext cx="1004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 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04910" y="1280160"/>
            <a:ext cx="48955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500" b="1" i="1" u="sng" dirty="0" smtClean="0"/>
              <a:t>Current Status of Library Noise</a:t>
            </a:r>
            <a:endParaRPr lang="en-US" sz="2500" b="1" i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15925" y="1983544"/>
            <a:ext cx="53597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Analysis of Noise Frequency Question Asked: "How often do you find the library too noisy for studying?"</a:t>
            </a:r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647114" y="3657600"/>
            <a:ext cx="678062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Key Findings:</a:t>
            </a:r>
            <a:endParaRPr lang="en-US" sz="2500" dirty="0" smtClean="0"/>
          </a:p>
          <a:p>
            <a:r>
              <a:rPr lang="en-US" sz="2200" b="1" dirty="0" smtClean="0"/>
              <a:t>70%</a:t>
            </a:r>
            <a:r>
              <a:rPr lang="en-US" sz="2200" dirty="0" smtClean="0"/>
              <a:t> of students reported that the library is "Often" or "Always" noisy.</a:t>
            </a:r>
          </a:p>
          <a:p>
            <a:r>
              <a:rPr lang="en-US" sz="2200" dirty="0" smtClean="0"/>
              <a:t>Only </a:t>
            </a:r>
            <a:r>
              <a:rPr lang="en-US" sz="2200" b="1" dirty="0" smtClean="0"/>
              <a:t>10%</a:t>
            </a:r>
            <a:r>
              <a:rPr lang="en-US" sz="2200" dirty="0" smtClean="0"/>
              <a:t> feel the library is consistently quiet.</a:t>
            </a:r>
          </a:p>
          <a:p>
            <a:r>
              <a:rPr lang="en-US" sz="2200" b="1" dirty="0" smtClean="0"/>
              <a:t>Inference:</a:t>
            </a:r>
            <a:r>
              <a:rPr lang="en-US" sz="2200" dirty="0" smtClean="0"/>
              <a:t> The current manual rules are not effective, leading to frequent disturbances.</a:t>
            </a:r>
          </a:p>
          <a:p>
            <a:endParaRPr lang="en-US" dirty="0"/>
          </a:p>
        </p:txBody>
      </p:sp>
      <p:sp>
        <p:nvSpPr>
          <p:cNvPr id="19458" name="AutoShape 2" descr="https://lh3.googleusercontent.com/gg-dl/ABS2GSlOTwLe0ZvzVFPkRC9vDWJi_2YfZgBtxi3QM2uHo-S_H3vOvYW4oOs08VEYsReJXUYWW3NN-OaFy4QqIDVwK1_JCU_fxh2lHRuwDK6ShYhHQlJHxbGCAA49MkWpTk9vJaiFeWCQUE464bo15f_71TumONyMdEa0PfihaaxwzNyVrJbojQ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460" name="Picture 4" descr="C:\Users\Admin\Desktop\Code_Generated_Imag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46410" y="1195754"/>
            <a:ext cx="4537467" cy="4537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33825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0332" y="351692"/>
            <a:ext cx="54723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 smtClean="0"/>
              <a:t>The Impact on Students:</a:t>
            </a:r>
            <a:endParaRPr lang="en-US" sz="25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041009" y="1237956"/>
            <a:ext cx="3995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Impact on Concentration </a:t>
            </a:r>
            <a:r>
              <a:rPr lang="en-US" sz="2200" b="1" dirty="0" smtClean="0"/>
              <a:t>Question Asked:</a:t>
            </a:r>
            <a:r>
              <a:rPr lang="en-US" sz="2200" dirty="0" smtClean="0"/>
              <a:t> "Does sudden noise or talking disturb your concentration?"</a:t>
            </a:r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717453" y="2771335"/>
            <a:ext cx="55708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 smtClean="0"/>
              <a:t>Key Findings:</a:t>
            </a:r>
          </a:p>
          <a:p>
            <a:endParaRPr lang="en-US" sz="2500" dirty="0" smtClean="0"/>
          </a:p>
          <a:p>
            <a:r>
              <a:rPr lang="en-US" sz="2200" b="1" dirty="0" smtClean="0"/>
              <a:t>85%</a:t>
            </a:r>
            <a:r>
              <a:rPr lang="en-US" sz="2200" dirty="0" smtClean="0"/>
              <a:t> of respondents stated they are highly disturbed by noise.</a:t>
            </a:r>
          </a:p>
          <a:p>
            <a:r>
              <a:rPr lang="en-US" sz="2200" dirty="0" smtClean="0"/>
              <a:t>Noise is identified as the primary reason for lack of focus.</a:t>
            </a:r>
          </a:p>
          <a:p>
            <a:r>
              <a:rPr lang="en-US" sz="2200" b="1" dirty="0" smtClean="0"/>
              <a:t>Inference:</a:t>
            </a:r>
            <a:r>
              <a:rPr lang="en-US" sz="2200" dirty="0" smtClean="0"/>
              <a:t> There is a critical need to reduce noise to improve study productivity.</a:t>
            </a:r>
          </a:p>
          <a:p>
            <a:endParaRPr lang="en-US" dirty="0"/>
          </a:p>
        </p:txBody>
      </p:sp>
      <p:pic>
        <p:nvPicPr>
          <p:cNvPr id="2050" name="Picture 2" descr="C:\Users\Admin\Desktop\Code_Generated_Image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8521" y="1491176"/>
            <a:ext cx="5649583" cy="3530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0843" y="337625"/>
            <a:ext cx="66962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u="sng" dirty="0" smtClean="0"/>
              <a:t>Validation of Solution:</a:t>
            </a:r>
            <a:endParaRPr lang="en-US" sz="25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661182" y="1209821"/>
            <a:ext cx="52050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Student Acceptance of Noise Detector </a:t>
            </a:r>
            <a:r>
              <a:rPr lang="en-US" sz="2200" b="1" dirty="0" smtClean="0"/>
              <a:t>Question Asked:</a:t>
            </a:r>
            <a:r>
              <a:rPr lang="en-US" sz="2200" dirty="0" smtClean="0"/>
              <a:t> "Would an automated visual alert be helpful to maintain silence?"</a:t>
            </a:r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337625" y="2827606"/>
            <a:ext cx="52331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Key Findings:</a:t>
            </a:r>
          </a:p>
          <a:p>
            <a:endParaRPr lang="en-US" sz="2500" dirty="0" smtClean="0"/>
          </a:p>
          <a:p>
            <a:r>
              <a:rPr lang="en-US" sz="2200" b="1" dirty="0" smtClean="0"/>
              <a:t>80%</a:t>
            </a:r>
            <a:r>
              <a:rPr lang="en-US" sz="2200" dirty="0" smtClean="0"/>
              <a:t> of students agreed that a visual alert (light) would be helpful.</a:t>
            </a:r>
          </a:p>
          <a:p>
            <a:r>
              <a:rPr lang="en-US" sz="2200" dirty="0" smtClean="0"/>
              <a:t>Students prefer an unbiased, automated system over manual warnings.</a:t>
            </a:r>
          </a:p>
          <a:p>
            <a:r>
              <a:rPr lang="en-US" sz="2200" b="1" dirty="0" smtClean="0"/>
              <a:t>Conclusion:</a:t>
            </a:r>
            <a:r>
              <a:rPr lang="en-US" sz="2200" dirty="0" smtClean="0"/>
              <a:t> The survey results validate the need for the </a:t>
            </a:r>
            <a:r>
              <a:rPr lang="en-US" sz="2200" b="1" dirty="0" smtClean="0"/>
              <a:t>Library Noise Detector</a:t>
            </a:r>
            <a:r>
              <a:rPr lang="en-US" sz="2200" dirty="0" smtClean="0"/>
              <a:t> project.</a:t>
            </a:r>
          </a:p>
          <a:p>
            <a:endParaRPr lang="en-US" dirty="0"/>
          </a:p>
        </p:txBody>
      </p:sp>
      <p:pic>
        <p:nvPicPr>
          <p:cNvPr id="1026" name="Picture 2" descr="C:\Users\Admin\Desktop\Code_Generated_Image (2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8712" y="1195754"/>
            <a:ext cx="5829651" cy="36435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399</TotalTime>
  <Words>599</Words>
  <Application>Microsoft Office PowerPoint</Application>
  <PresentationFormat>Custom</PresentationFormat>
  <Paragraphs>94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Retrospect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Admin</cp:lastModifiedBy>
  <cp:revision>33</cp:revision>
  <dcterms:created xsi:type="dcterms:W3CDTF">2025-12-28T05:11:29Z</dcterms:created>
  <dcterms:modified xsi:type="dcterms:W3CDTF">2025-12-31T14:13:40Z</dcterms:modified>
</cp:coreProperties>
</file>